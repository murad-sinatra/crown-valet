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566928" y="566928"/>
            <a:ext cx="123444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91440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150"/>
            </a:pPr>
            <a:r>
              <a:rPr lang="en-US" sz="1150" b="1">
                <a:solidFill>
                  <a:srgbClr val="E4C76E"/>
                </a:solidFill>
                <a:latin typeface="Aptos"/>
              </a:rPr>
              <a:t>INVESTOR DECK | BASED ON PRODUCT DOCUMENTATION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508760"/>
            <a:ext cx="7132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5200"/>
            </a:pPr>
            <a:r>
              <a:rPr lang="en-US" sz="5200" b="1">
                <a:solidFill>
                  <a:srgbClr val="FFFFFF"/>
                </a:solidFill>
                <a:latin typeface="Aptos"/>
              </a:rPr>
              <a:t>Crown Valet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1792" y="2633472"/>
            <a:ext cx="626364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2200"/>
            </a:pPr>
            <a:r>
              <a:rPr lang="en-US" sz="2200">
                <a:solidFill>
                  <a:srgbClr val="A9B4C2"/>
                </a:solidFill>
                <a:latin typeface="Aptos"/>
              </a:rPr>
              <a:t>Connected valet parking and vehicle services for premium venues.</a:t>
            </a:r>
          </a:p>
        </p:txBody>
      </p:sp>
      <p:sp>
        <p:nvSpPr>
          <p:cNvPr id="8" name="Block 8"/>
          <p:cNvSpPr/>
          <p:nvPr/>
        </p:nvSpPr>
        <p:spPr>
          <a:xfrm>
            <a:off x="7818120" y="1143000"/>
            <a:ext cx="3291840" cy="3291840"/>
          </a:xfrm>
          <a:prstGeom prst="roundRect">
            <a:avLst/>
          </a:prstGeom>
          <a:solidFill>
            <a:srgbClr val="17243A">
              <a:alpha val="84000"/>
            </a:srgbClr>
          </a:solidFill>
          <a:ln w="12700">
            <a:solidFill>
              <a:srgbClr val="C9A227">
                <a:alpha val="45000"/>
              </a:srgbClr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8156448" y="1572768"/>
            <a:ext cx="2651760" cy="2468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/>
          <a:lstStyle/>
          <a:p>
            <a:pPr algn="c">
              <a:defRPr sz="2600"/>
            </a:pPr>
            <a:r>
              <a:rPr lang="en-US" sz="2600" b="1">
                <a:solidFill>
                  <a:srgbClr val="FFFFFF"/>
                </a:solidFill>
                <a:latin typeface="Aptos"/>
              </a:rPr>
              <a:t>Connected
Valet
Platform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614476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Hospitality operations platform for valet, services, payments, and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THE PROBLEM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Valet Is Still Mostly Manual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481328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550"/>
            </a:pPr>
            <a:r>
              <a:rPr lang="en-US" sz="1550">
                <a:solidFill>
                  <a:srgbClr val="A9B4C2"/>
                </a:solidFill>
                <a:latin typeface="Aptos"/>
              </a:rPr>
              <a:t>One of the first and last guest touchpoints still runs on paper tickets, radios, and staff memory.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21792" y="2148840"/>
            <a:ext cx="3401568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Opaque guest experience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Customers wait without knowing where their car is or when it will be ready.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297680" y="2148840"/>
            <a:ext cx="3401568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Operational bottlenecks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Peak pickup windows create confusion, missed requests, and slow handoffs.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973568" y="2148840"/>
            <a:ext cx="3401568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Lost revenue and trust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Venues miss high-intent services and lack evidence for disputes or claims.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THE OPPORTUNITY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A High-Trust Moment Becomes A Platform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481328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550"/>
            </a:pPr>
            <a:r>
              <a:rPr lang="en-US" sz="1550">
                <a:solidFill>
                  <a:srgbClr val="A9B4C2"/>
                </a:solidFill>
                <a:latin typeface="Aptos"/>
              </a:rPr>
              <a:t>When a guest hands over their keys, the venue has permission to deliver convenience, communication, and vehicle services.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2331720"/>
            <a:ext cx="7909560" cy="338328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C9A227">
                <a:alpha val="25000"/>
              </a:srgbClr>
            </a:solidFill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Turn valet from a utility into a premium branded hospitality experience.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Capture new revenue from add-on services while the vehicle is already parked.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Give managers real-time visibility into speed, staffing, incidents, and service quality.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Create a repeatable operating layer across hotels, restaurants, events, residential, medical, and travel venues.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THE SOLUTION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Crown Valet Connects The Full Valet Lifecycle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481328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550"/>
            </a:pPr>
            <a:r>
              <a:rPr lang="en-US" sz="1550">
                <a:solidFill>
                  <a:srgbClr val="A9B4C2"/>
                </a:solidFill>
                <a:latin typeface="Aptos"/>
              </a:rPr>
              <a:t>A multi-role platform for customers, valet teams, venues, service partners, payments, notifications, and analytics.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599432" y="3044952"/>
            <a:ext cx="2048256" cy="1133856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txBody>
          <a:bodyPr wrap="square" lIns="64008" tIns="64008" rIns="64008" bIns="64008"/>
          <a:lstStyle/>
          <a:p>
            <a:pPr algn="c">
              <a:defRPr sz="1900"/>
            </a:pPr>
            <a:r>
              <a:rPr lang="en-US" sz="1900" b="1">
                <a:solidFill>
                  <a:srgbClr val="07111F"/>
                </a:solidFill>
                <a:latin typeface="Aptos"/>
              </a:rPr>
              <a:t>Crown
Valet</a:t>
            </a:r>
          </a:p>
        </p:txBody>
      </p:sp>
      <p:cxnSp>
        <p:nvCxnSpPr>
          <p:cNvPr id="10" name="Connector 10"/>
          <p:cNvCxnSpPr/>
          <p:nvPr/>
        </p:nvCxnSpPr>
        <p:spPr>
          <a:xfrm flipH="1" flipV="1">
            <a:off x="2194560" y="2807208"/>
            <a:ext cx="3429000" cy="804672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777240" y="2240280"/>
            <a:ext cx="28346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0000"/>
              </a:srgbClr>
            </a:solidFill>
          </a:ln>
        </p:spPr>
        <p:txBody>
          <a:bodyPr wrap="square" lIns="54864" tIns="54864" rIns="54864" bIns="54864"/>
          <a:lstStyle/>
          <a:p>
            <a:pPr algn="c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Customer</a:t>
            </a:r>
          </a:p>
          <a:p>
            <a:pPr algn="c">
              <a:defRPr sz="960"/>
            </a:pPr>
            <a:r>
              <a:rPr lang="en-US" sz="960">
                <a:solidFill>
                  <a:srgbClr val="A9B4C2"/>
                </a:solidFill>
                <a:latin typeface="Aptos"/>
              </a:rPr>
              <a:t>Digital ticket
Status
Pickup
Pay + tip</a:t>
            </a:r>
          </a:p>
        </p:txBody>
      </p:sp>
      <p:cxnSp>
        <p:nvCxnSpPr>
          <p:cNvPr id="12" name="Connector 12"/>
          <p:cNvCxnSpPr/>
          <p:nvPr/>
        </p:nvCxnSpPr>
        <p:spPr>
          <a:xfrm flipV="1">
            <a:off x="5623560" y="2807208"/>
            <a:ext cx="3886200" cy="804672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3" name="Shape 13"/>
          <p:cNvSpPr txBox="1"/>
          <p:nvPr/>
        </p:nvSpPr>
        <p:spPr>
          <a:xfrm>
            <a:off x="8092440" y="2240280"/>
            <a:ext cx="28346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0000"/>
              </a:srgbClr>
            </a:solidFill>
          </a:ln>
        </p:spPr>
        <p:txBody>
          <a:bodyPr wrap="square" lIns="54864" tIns="54864" rIns="54864" bIns="54864"/>
          <a:lstStyle/>
          <a:p>
            <a:pPr algn="c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Valet Team</a:t>
            </a:r>
          </a:p>
          <a:p>
            <a:pPr algn="c">
              <a:defRPr sz="960"/>
            </a:pPr>
            <a:r>
              <a:rPr lang="en-US" sz="960">
                <a:solidFill>
                  <a:srgbClr val="A9B4C2"/>
                </a:solidFill>
                <a:latin typeface="Aptos"/>
              </a:rPr>
              <a:t>Check-in
Photos
Queue
Handoff</a:t>
            </a:r>
          </a:p>
        </p:txBody>
      </p:sp>
      <p:cxnSp>
        <p:nvCxnSpPr>
          <p:cNvPr id="14" name="Connector 14"/>
          <p:cNvCxnSpPr/>
          <p:nvPr/>
        </p:nvCxnSpPr>
        <p:spPr>
          <a:xfrm flipH="1">
            <a:off x="2194560" y="3611880"/>
            <a:ext cx="3429000" cy="1298448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777240" y="4343400"/>
            <a:ext cx="28346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0000"/>
              </a:srgbClr>
            </a:solidFill>
          </a:ln>
        </p:spPr>
        <p:txBody>
          <a:bodyPr wrap="square" lIns="54864" tIns="54864" rIns="54864" bIns="54864"/>
          <a:lstStyle/>
          <a:p>
            <a:pPr algn="c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Venue</a:t>
            </a:r>
          </a:p>
          <a:p>
            <a:pPr algn="c">
              <a:defRPr sz="960"/>
            </a:pPr>
            <a:r>
              <a:rPr lang="en-US" sz="960">
                <a:solidFill>
                  <a:srgbClr val="A9B4C2"/>
                </a:solidFill>
                <a:latin typeface="Aptos"/>
              </a:rPr>
              <a:t>Live ops
Revenue
Reports
Issues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5623560" y="3611880"/>
            <a:ext cx="3886200" cy="1298448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7" name="Shape 17"/>
          <p:cNvSpPr txBox="1"/>
          <p:nvPr/>
        </p:nvSpPr>
        <p:spPr>
          <a:xfrm>
            <a:off x="8092440" y="4343400"/>
            <a:ext cx="28346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0000"/>
              </a:srgbClr>
            </a:solidFill>
          </a:ln>
        </p:spPr>
        <p:txBody>
          <a:bodyPr wrap="square" lIns="54864" tIns="54864" rIns="54864" bIns="54864"/>
          <a:lstStyle/>
          <a:p>
            <a:pPr algn="c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Partners</a:t>
            </a:r>
          </a:p>
          <a:p>
            <a:pPr algn="c">
              <a:defRPr sz="960"/>
            </a:pPr>
            <a:r>
              <a:rPr lang="en-US" sz="960">
                <a:solidFill>
                  <a:srgbClr val="A9B4C2"/>
                </a:solidFill>
                <a:latin typeface="Aptos"/>
              </a:rPr>
              <a:t>Service jobs
Proof
Payouts
SLAs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PRODUCT FLOW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A Better Guest Experience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Block 8"/>
          <p:cNvSpPr/>
          <p:nvPr/>
        </p:nvSpPr>
        <p:spPr>
          <a:xfrm>
            <a:off x="859536" y="288036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9" name="Connector 9"/>
          <p:cNvCxnSpPr/>
          <p:nvPr/>
        </p:nvCxnSpPr>
        <p:spPr>
          <a:xfrm>
            <a:off x="1280160" y="3090672"/>
            <a:ext cx="1563624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0" name="Shape 10"/>
          <p:cNvSpPr txBox="1"/>
          <p:nvPr/>
        </p:nvSpPr>
        <p:spPr>
          <a:xfrm>
            <a:off x="749808" y="3502152"/>
            <a:ext cx="18745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Drop off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Vehicle details and condition photos captured quickly.</a:t>
            </a:r>
          </a:p>
        </p:txBody>
      </p:sp>
      <p:sp>
        <p:nvSpPr>
          <p:cNvPr id="11" name="Block 11"/>
          <p:cNvSpPr/>
          <p:nvPr/>
        </p:nvSpPr>
        <p:spPr>
          <a:xfrm>
            <a:off x="2843784" y="288036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12" name="Connector 12"/>
          <p:cNvCxnSpPr/>
          <p:nvPr/>
        </p:nvCxnSpPr>
        <p:spPr>
          <a:xfrm>
            <a:off x="3264408" y="3090672"/>
            <a:ext cx="1563624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3" name="Shape 13"/>
          <p:cNvSpPr txBox="1"/>
          <p:nvPr/>
        </p:nvSpPr>
        <p:spPr>
          <a:xfrm>
            <a:off x="2734056" y="3502152"/>
            <a:ext cx="18745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Track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Digital ticket shows status and key timestamps.</a:t>
            </a:r>
          </a:p>
        </p:txBody>
      </p:sp>
      <p:sp>
        <p:nvSpPr>
          <p:cNvPr id="14" name="Block 14"/>
          <p:cNvSpPr/>
          <p:nvPr/>
        </p:nvSpPr>
        <p:spPr>
          <a:xfrm>
            <a:off x="4828032" y="288036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15" name="Connector 15"/>
          <p:cNvCxnSpPr/>
          <p:nvPr/>
        </p:nvCxnSpPr>
        <p:spPr>
          <a:xfrm>
            <a:off x="5248656" y="3090672"/>
            <a:ext cx="1563624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6" name="Shape 16"/>
          <p:cNvSpPr txBox="1"/>
          <p:nvPr/>
        </p:nvSpPr>
        <p:spPr>
          <a:xfrm>
            <a:off x="4718304" y="3502152"/>
            <a:ext cx="18745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Enhance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Guest can request cleaning, detailing, fuel, or EV charging.</a:t>
            </a:r>
          </a:p>
        </p:txBody>
      </p:sp>
      <p:sp>
        <p:nvSpPr>
          <p:cNvPr id="17" name="Block 17"/>
          <p:cNvSpPr/>
          <p:nvPr/>
        </p:nvSpPr>
        <p:spPr>
          <a:xfrm>
            <a:off x="6812280" y="288036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18" name="Connector 18"/>
          <p:cNvCxnSpPr/>
          <p:nvPr/>
        </p:nvCxnSpPr>
        <p:spPr>
          <a:xfrm>
            <a:off x="7232904" y="3090672"/>
            <a:ext cx="1563624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702552" y="3502152"/>
            <a:ext cx="18745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Pickup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Request car before reaching the valet stand.</a:t>
            </a:r>
          </a:p>
        </p:txBody>
      </p:sp>
      <p:sp>
        <p:nvSpPr>
          <p:cNvPr id="20" name="Block 20"/>
          <p:cNvSpPr/>
          <p:nvPr/>
        </p:nvSpPr>
        <p:spPr>
          <a:xfrm>
            <a:off x="8796528" y="288036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21" name="Shape 21"/>
          <p:cNvSpPr txBox="1"/>
          <p:nvPr/>
        </p:nvSpPr>
        <p:spPr>
          <a:xfrm>
            <a:off x="8686800" y="3502152"/>
            <a:ext cx="187452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Close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Pay, tip, receive receipt, and access support digitally.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VENUE VALUE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Why Venues Buy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700784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Guest satisfaction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Modern branded communication reduces uncertainty and complaints.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998464" y="1700784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Operational control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Dashboards surface active cars, queue length, wait times, delays, and incidents.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21792" y="3429000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Incremental revenue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Services, premium options, tips, and reporting become configurable revenue lines.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998464" y="3429000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Risk reduction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Photos, timestamps, audit logs, and support cases improve dispute resolution.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BUSINESS MODEL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Multiple Revenue Streams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94944" y="1783080"/>
            <a:ext cx="46634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2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Software subscription</a:t>
            </a:r>
          </a:p>
          <a:p>
            <a:pPr algn="l">
              <a:defRPr sz="1020"/>
            </a:pPr>
            <a:r>
              <a:rPr lang="en-US" sz="1020">
                <a:solidFill>
                  <a:srgbClr val="A9B4C2"/>
                </a:solidFill>
                <a:latin typeface="Aptos"/>
              </a:rPr>
              <a:t>Monthly platform fees by venue count, volume, features, or seats.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678424" y="1783080"/>
            <a:ext cx="46634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2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Transaction fees</a:t>
            </a:r>
          </a:p>
          <a:p>
            <a:pPr algn="l">
              <a:defRPr sz="1020"/>
            </a:pPr>
            <a:r>
              <a:rPr lang="en-US" sz="1020">
                <a:solidFill>
                  <a:srgbClr val="A9B4C2"/>
                </a:solidFill>
                <a:latin typeface="Aptos"/>
              </a:rPr>
              <a:t>Fees on valet payments, tips, add-ons, premium pickup, and packages.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94944" y="3383280"/>
            <a:ext cx="46634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2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Service revenue share</a:t>
            </a:r>
          </a:p>
          <a:p>
            <a:pPr algn="l">
              <a:defRPr sz="1020"/>
            </a:pPr>
            <a:r>
              <a:rPr lang="en-US" sz="1020">
                <a:solidFill>
                  <a:srgbClr val="A9B4C2"/>
                </a:solidFill>
                <a:latin typeface="Aptos"/>
              </a:rPr>
              <a:t>Marketplace commission on cleaning, detailing, fuel, EV charging, and maintenance referrals.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678424" y="3383280"/>
            <a:ext cx="4663440" cy="123444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2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00"/>
            </a:pPr>
            <a:r>
              <a:rPr lang="en-US" sz="1500" b="1">
                <a:solidFill>
                  <a:srgbClr val="FFFFFF"/>
                </a:solidFill>
                <a:latin typeface="Aptos"/>
              </a:rPr>
              <a:t>Enterprise packages</a:t>
            </a:r>
          </a:p>
          <a:p>
            <a:pPr algn="l">
              <a:defRPr sz="1020"/>
            </a:pPr>
            <a:r>
              <a:rPr lang="en-US" sz="1020">
                <a:solidFill>
                  <a:srgbClr val="A9B4C2"/>
                </a:solidFill>
                <a:latin typeface="Aptos"/>
              </a:rPr>
              <a:t>Multi-location analytics, integrations, dedicated support, and reporting exports.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TARGET MARKETS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Focused Launch Segments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58368" y="1600200"/>
            <a:ext cx="4736592" cy="96012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280"/>
            </a:pPr>
            <a:r>
              <a:rPr lang="en-US" sz="1280" b="1">
                <a:solidFill>
                  <a:srgbClr val="E4C76E"/>
                </a:solidFill>
                <a:latin typeface="Aptos"/>
              </a:rPr>
              <a:t>Hotels &amp; Resorts</a:t>
            </a:r>
          </a:p>
          <a:p>
            <a:pPr algn="l">
              <a:defRPr sz="900"/>
            </a:pPr>
            <a:r>
              <a:rPr lang="en-US" sz="900">
                <a:solidFill>
                  <a:srgbClr val="A9B4C2"/>
                </a:solidFill>
                <a:latin typeface="Aptos"/>
              </a:rPr>
              <a:t>Premium expectations, repeat guests, overnight service opportunities.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733288" y="1600200"/>
            <a:ext cx="4736592" cy="96012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280"/>
            </a:pPr>
            <a:r>
              <a:rPr lang="en-US" sz="1280" b="1">
                <a:solidFill>
                  <a:srgbClr val="E4C76E"/>
                </a:solidFill>
                <a:latin typeface="Aptos"/>
              </a:rPr>
              <a:t>Restaurants &amp; Nightlife</a:t>
            </a:r>
          </a:p>
          <a:p>
            <a:pPr algn="l">
              <a:defRPr sz="900"/>
            </a:pPr>
            <a:r>
              <a:rPr lang="en-US" sz="900">
                <a:solidFill>
                  <a:srgbClr val="A9B4C2"/>
                </a:solidFill>
                <a:latin typeface="Aptos"/>
              </a:rPr>
              <a:t>Compressed rush periods where pickup time shapes guest perception.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58368" y="2852928"/>
            <a:ext cx="4736592" cy="96012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280"/>
            </a:pPr>
            <a:r>
              <a:rPr lang="en-US" sz="1280" b="1">
                <a:solidFill>
                  <a:srgbClr val="E4C76E"/>
                </a:solidFill>
                <a:latin typeface="Aptos"/>
              </a:rPr>
              <a:t>Events &amp; Stadiums</a:t>
            </a:r>
          </a:p>
          <a:p>
            <a:pPr algn="l">
              <a:defRPr sz="900"/>
            </a:pPr>
            <a:r>
              <a:rPr lang="en-US" sz="900">
                <a:solidFill>
                  <a:srgbClr val="A9B4C2"/>
                </a:solidFill>
                <a:latin typeface="Aptos"/>
              </a:rPr>
              <a:t>Large traffic spikes requiring queue control and guest communication.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733288" y="2852928"/>
            <a:ext cx="4736592" cy="96012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280"/>
            </a:pPr>
            <a:r>
              <a:rPr lang="en-US" sz="1280" b="1">
                <a:solidFill>
                  <a:srgbClr val="E4C76E"/>
                </a:solidFill>
                <a:latin typeface="Aptos"/>
              </a:rPr>
              <a:t>Luxury Residential</a:t>
            </a:r>
          </a:p>
          <a:p>
            <a:pPr algn="l">
              <a:defRPr sz="900"/>
            </a:pPr>
            <a:r>
              <a:rPr lang="en-US" sz="900">
                <a:solidFill>
                  <a:srgbClr val="A9B4C2"/>
                </a:solidFill>
                <a:latin typeface="Aptos"/>
              </a:rPr>
              <a:t>Recurring users, known vehicles, subscriptions, and scheduled services.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58368" y="4105656"/>
            <a:ext cx="4736592" cy="96012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280"/>
            </a:pPr>
            <a:r>
              <a:rPr lang="en-US" sz="1280" b="1">
                <a:solidFill>
                  <a:srgbClr val="E4C76E"/>
                </a:solidFill>
                <a:latin typeface="Aptos"/>
              </a:rPr>
              <a:t>Hospitals &amp; Medical</a:t>
            </a:r>
          </a:p>
          <a:p>
            <a:pPr algn="l">
              <a:defRPr sz="900"/>
            </a:pPr>
            <a:r>
              <a:rPr lang="en-US" sz="900">
                <a:solidFill>
                  <a:srgbClr val="A9B4C2"/>
                </a:solidFill>
                <a:latin typeface="Aptos"/>
              </a:rPr>
              <a:t>High-stress visits where clear pickup coordination matters.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733288" y="4105656"/>
            <a:ext cx="4736592" cy="96012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280"/>
            </a:pPr>
            <a:r>
              <a:rPr lang="en-US" sz="1280" b="1">
                <a:solidFill>
                  <a:srgbClr val="E4C76E"/>
                </a:solidFill>
                <a:latin typeface="Aptos"/>
              </a:rPr>
              <a:t>Airports &amp; Private Terminals</a:t>
            </a:r>
          </a:p>
          <a:p>
            <a:pPr algn="l">
              <a:defRPr sz="900"/>
            </a:pPr>
            <a:r>
              <a:rPr lang="en-US" sz="900">
                <a:solidFill>
                  <a:srgbClr val="A9B4C2"/>
                </a:solidFill>
                <a:latin typeface="Aptos"/>
              </a:rPr>
              <a:t>High-value parking, receipts, fuel, EV charging, and scheduled pickup.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UPSIDE LAYER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Service Marketplace Expansion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481328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550"/>
            </a:pPr>
            <a:r>
              <a:rPr lang="en-US" sz="1550">
                <a:solidFill>
                  <a:srgbClr val="A9B4C2"/>
                </a:solidFill>
                <a:latin typeface="Aptos"/>
              </a:rPr>
              <a:t>Once the core valet workflow is reliable, Crown Valet can monetize services that naturally fit the parked-vehicle window.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58368" y="2514600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Exterior wash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172968" y="2514600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4DA3FF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Interior cleaning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687568" y="2514600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33D6C4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Detailing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8202168" y="2514600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B18CFF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Gas fill-up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58368" y="3355848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2ECC71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EV charging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172968" y="3355848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E4C76E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Tire pressure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687568" y="3355848"/>
            <a:ext cx="2212848" cy="5029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4DA3FF">
                <a:alpha val="55000"/>
              </a:srgbClr>
            </a:solidFill>
          </a:ln>
        </p:spPr>
        <p:txBody>
          <a:bodyPr wrap="square" lIns="36576" tIns="36576" rIns="36576" bIns="36576"/>
          <a:lstStyle/>
          <a:p>
            <a:pPr algn="c">
              <a:defRPr sz="1030"/>
            </a:pPr>
            <a:r>
              <a:rPr lang="en-US" sz="1030" b="1">
                <a:solidFill>
                  <a:srgbClr val="FFFFFF"/>
                </a:solidFill>
                <a:latin typeface="Aptos"/>
              </a:rPr>
              <a:t>Light maintenance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86384" y="4407408"/>
            <a:ext cx="8412480" cy="123444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C9A227">
                <a:alpha val="22000"/>
              </a:srgbClr>
            </a:solidFill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defRPr sz="1120"/>
            </a:pPr>
            <a:r>
              <a:rPr lang="en-US" sz="1120">
                <a:solidFill>
                  <a:srgbClr val="FFFFFF"/>
                </a:solidFill>
                <a:latin typeface="Aptos"/>
              </a:rPr>
              <a:t>Structured service jobs include vehicle details, location, timing, and proof requirements.</a:t>
            </a:r>
          </a:p>
          <a:p>
            <a:pPr marL="285750" indent="-171450">
              <a:buChar char="•"/>
              <a:defRPr sz="1120"/>
            </a:pPr>
            <a:r>
              <a:rPr lang="en-US" sz="1120">
                <a:solidFill>
                  <a:srgbClr val="FFFFFF"/>
                </a:solidFill>
                <a:latin typeface="Aptos"/>
              </a:rPr>
              <a:t>Customers receive status updates without calling the valet stand.</a:t>
            </a:r>
          </a:p>
          <a:p>
            <a:pPr marL="285750" indent="-171450">
              <a:buChar char="•"/>
              <a:defRPr sz="1120"/>
            </a:pPr>
            <a:r>
              <a:rPr lang="en-US" sz="1120">
                <a:solidFill>
                  <a:srgbClr val="FFFFFF"/>
                </a:solidFill>
                <a:latin typeface="Aptos"/>
              </a:rPr>
              <a:t>Venues, partners, and Crown Valet can reconcile revenue from the same workflow.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GO-TO-MARKET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Pilot First, Then Expand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Block 8"/>
          <p:cNvSpPr/>
          <p:nvPr/>
        </p:nvSpPr>
        <p:spPr>
          <a:xfrm>
            <a:off x="859536" y="260604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9" name="Connector 9"/>
          <p:cNvCxnSpPr/>
          <p:nvPr/>
        </p:nvCxnSpPr>
        <p:spPr>
          <a:xfrm>
            <a:off x="1280160" y="2816352"/>
            <a:ext cx="2059686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0" name="Shape 10"/>
          <p:cNvSpPr txBox="1"/>
          <p:nvPr/>
        </p:nvSpPr>
        <p:spPr>
          <a:xfrm>
            <a:off x="749808" y="3227832"/>
            <a:ext cx="2370582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1. Pilot venue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Digital tickets, pickup requests, status updates, and basic reporting.</a:t>
            </a:r>
          </a:p>
        </p:txBody>
      </p:sp>
      <p:sp>
        <p:nvSpPr>
          <p:cNvPr id="11" name="Block 11"/>
          <p:cNvSpPr/>
          <p:nvPr/>
        </p:nvSpPr>
        <p:spPr>
          <a:xfrm>
            <a:off x="3339846" y="260604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12" name="Connector 12"/>
          <p:cNvCxnSpPr/>
          <p:nvPr/>
        </p:nvCxnSpPr>
        <p:spPr>
          <a:xfrm>
            <a:off x="3760470" y="2816352"/>
            <a:ext cx="2059686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3" name="Shape 13"/>
          <p:cNvSpPr txBox="1"/>
          <p:nvPr/>
        </p:nvSpPr>
        <p:spPr>
          <a:xfrm>
            <a:off x="3230118" y="3227832"/>
            <a:ext cx="2370582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2. Service add-ons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Start with easy-to-fulfill services like wash and interior cleaning.</a:t>
            </a:r>
          </a:p>
        </p:txBody>
      </p:sp>
      <p:sp>
        <p:nvSpPr>
          <p:cNvPr id="14" name="Block 14"/>
          <p:cNvSpPr/>
          <p:nvPr/>
        </p:nvSpPr>
        <p:spPr>
          <a:xfrm>
            <a:off x="5820156" y="260604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cxnSp>
        <p:nvCxnSpPr>
          <p:cNvPr id="15" name="Connector 15"/>
          <p:cNvCxnSpPr/>
          <p:nvPr/>
        </p:nvCxnSpPr>
        <p:spPr>
          <a:xfrm>
            <a:off x="6240780" y="2816352"/>
            <a:ext cx="2059686" cy="0"/>
          </a:xfrm>
          <a:prstGeom prst="straightConnector1">
            <a:avLst/>
          </a:prstGeom>
          <a:ln w="19050">
            <a:solidFill>
              <a:srgbClr val="C9A227"/>
            </a:solidFill>
          </a:ln>
        </p:spPr>
      </p:cxnSp>
      <p:sp>
        <p:nvSpPr>
          <p:cNvPr id="16" name="Shape 16"/>
          <p:cNvSpPr txBox="1"/>
          <p:nvPr/>
        </p:nvSpPr>
        <p:spPr>
          <a:xfrm>
            <a:off x="5710428" y="3227832"/>
            <a:ext cx="2370582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3. Multi-venue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Dashboards, configuration, reporting, and repeatable onboarding.</a:t>
            </a:r>
          </a:p>
        </p:txBody>
      </p:sp>
      <p:sp>
        <p:nvSpPr>
          <p:cNvPr id="17" name="Block 17"/>
          <p:cNvSpPr/>
          <p:nvPr/>
        </p:nvSpPr>
        <p:spPr>
          <a:xfrm>
            <a:off x="8300466" y="2606040"/>
            <a:ext cx="420624" cy="420624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18" name="Shape 18"/>
          <p:cNvSpPr txBox="1"/>
          <p:nvPr/>
        </p:nvSpPr>
        <p:spPr>
          <a:xfrm>
            <a:off x="8190738" y="3227832"/>
            <a:ext cx="2370582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250"/>
            </a:pPr>
            <a:r>
              <a:rPr lang="en-US" sz="1250" b="1">
                <a:solidFill>
                  <a:srgbClr val="FFFFFF"/>
                </a:solidFill>
                <a:latin typeface="Aptos"/>
              </a:rPr>
              <a:t>4. Marketplace</a:t>
            </a:r>
          </a:p>
          <a:p>
            <a:pPr algn="l">
              <a:defRPr sz="880"/>
            </a:pPr>
            <a:r>
              <a:rPr lang="en-US" sz="880">
                <a:solidFill>
                  <a:srgbClr val="A9B4C2"/>
                </a:solidFill>
                <a:latin typeface="Aptos"/>
              </a:rPr>
              <a:t>Partner workflows for fuel, EV charging, detailing, and maintenance.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PILOT PRODUCT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Recommended MVP Scope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481328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550"/>
            </a:pPr>
            <a:r>
              <a:rPr lang="en-US" sz="1550">
                <a:solidFill>
                  <a:srgbClr val="A9B4C2"/>
                </a:solidFill>
                <a:latin typeface="Aptos"/>
              </a:rPr>
              <a:t>The first live product should prove the core valet loop before layering payments and marketplace complexity.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2331720"/>
            <a:ext cx="7909560" cy="338328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C9A227">
                <a:alpha val="25000"/>
              </a:srgbClr>
            </a:solidFill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Venue setup, staff roles, vehicle check-in, digital ticket, and basic notifications.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Vehicle status timeline, parking location notes, pickup request, and pickup queue.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Session closure, basic support notes, and operational reporting.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Payments and service add-ons follow after the workflow is stable in a real venue.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SUCCESS METRICS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Metrics That Prove The Model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94944" y="1700784"/>
            <a:ext cx="4663440" cy="82296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180"/>
            </a:pPr>
            <a:r>
              <a:rPr lang="en-US" sz="1180" b="1">
                <a:solidFill>
                  <a:srgbClr val="E4C76E"/>
                </a:solidFill>
                <a:latin typeface="Aptos"/>
              </a:rPr>
              <a:t>Adoption</a:t>
            </a:r>
          </a:p>
          <a:p>
            <a:pPr algn="l">
              <a:defRPr sz="870"/>
            </a:pPr>
            <a:r>
              <a:rPr lang="en-US" sz="870">
                <a:solidFill>
                  <a:srgbClr val="A9B4C2"/>
                </a:solidFill>
                <a:latin typeface="Aptos"/>
              </a:rPr>
              <a:t>Digital ticket adoption, pickup requests per session, staff usage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678424" y="1700784"/>
            <a:ext cx="4663440" cy="82296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180"/>
            </a:pPr>
            <a:r>
              <a:rPr lang="en-US" sz="1180" b="1">
                <a:solidFill>
                  <a:srgbClr val="E4C76E"/>
                </a:solidFill>
                <a:latin typeface="Aptos"/>
              </a:rPr>
              <a:t>Speed</a:t>
            </a:r>
          </a:p>
          <a:p>
            <a:pPr algn="l">
              <a:defRPr sz="870"/>
            </a:pPr>
            <a:r>
              <a:rPr lang="en-US" sz="870">
                <a:solidFill>
                  <a:srgbClr val="A9B4C2"/>
                </a:solidFill>
                <a:latin typeface="Aptos"/>
              </a:rPr>
              <a:t>Average check-in time, pickup wait time, queue length by time of day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94944" y="2779776"/>
            <a:ext cx="4663440" cy="82296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180"/>
            </a:pPr>
            <a:r>
              <a:rPr lang="en-US" sz="1180" b="1">
                <a:solidFill>
                  <a:srgbClr val="E4C76E"/>
                </a:solidFill>
                <a:latin typeface="Aptos"/>
              </a:rPr>
              <a:t>Revenue</a:t>
            </a:r>
          </a:p>
          <a:p>
            <a:pPr algn="l">
              <a:defRPr sz="870"/>
            </a:pPr>
            <a:r>
              <a:rPr lang="en-US" sz="870">
                <a:solidFill>
                  <a:srgbClr val="A9B4C2"/>
                </a:solidFill>
                <a:latin typeface="Aptos"/>
              </a:rPr>
              <a:t>Average revenue per session, tip conversion, add-on service conversion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678424" y="2779776"/>
            <a:ext cx="4663440" cy="82296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180"/>
            </a:pPr>
            <a:r>
              <a:rPr lang="en-US" sz="1180" b="1">
                <a:solidFill>
                  <a:srgbClr val="E4C76E"/>
                </a:solidFill>
                <a:latin typeface="Aptos"/>
              </a:rPr>
              <a:t>Trust</a:t>
            </a:r>
          </a:p>
          <a:p>
            <a:pPr algn="l">
              <a:defRPr sz="870"/>
            </a:pPr>
            <a:r>
              <a:rPr lang="en-US" sz="870">
                <a:solidFill>
                  <a:srgbClr val="A9B4C2"/>
                </a:solidFill>
                <a:latin typeface="Aptos"/>
              </a:rPr>
              <a:t>Incident rate, dispute resolution time, support volume, customer satisfaction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94944" y="3858768"/>
            <a:ext cx="9646920" cy="82296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FFFFFF">
                <a:alpha val="12000"/>
              </a:srgbClr>
            </a:solidFill>
          </a:ln>
        </p:spPr>
        <p:txBody>
          <a:bodyPr wrap="square" lIns="64008" tIns="64008" rIns="64008" bIns="64008"/>
          <a:lstStyle/>
          <a:p>
            <a:pPr algn="l">
              <a:defRPr sz="1180"/>
            </a:pPr>
            <a:r>
              <a:rPr lang="en-US" sz="1180" b="1">
                <a:solidFill>
                  <a:srgbClr val="E4C76E"/>
                </a:solidFill>
                <a:latin typeface="Aptos"/>
              </a:rPr>
              <a:t>Retention</a:t>
            </a:r>
          </a:p>
          <a:p>
            <a:pPr algn="l">
              <a:defRPr sz="870"/>
            </a:pPr>
            <a:r>
              <a:rPr lang="en-US" sz="870">
                <a:solidFill>
                  <a:srgbClr val="A9B4C2"/>
                </a:solidFill>
                <a:latin typeface="Aptos"/>
              </a:rPr>
              <a:t>Venue retention, expansion rate, net revenue retention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EXECUTION PLAN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Phased Product Roadmap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40080" y="2011680"/>
            <a:ext cx="2212848" cy="1078992"/>
          </a:xfrm>
          <a:prstGeom prst="roundRect">
            <a:avLst/>
          </a:prstGeom>
          <a:solidFill>
            <a:srgbClr val="C9A227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0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Product, design, architecture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127248" y="2011680"/>
            <a:ext cx="2212848" cy="1078992"/>
          </a:xfrm>
          <a:prstGeom prst="roundRect">
            <a:avLst/>
          </a:prstGeom>
          <a:solidFill>
            <a:srgbClr val="C9A227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1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Digital ticket + valet core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14416" y="2011680"/>
            <a:ext cx="2212848" cy="10789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2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Payments, tips, receipts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101584" y="2011680"/>
            <a:ext cx="2212848" cy="10789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3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Customer mobile app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40080" y="3520440"/>
            <a:ext cx="2212848" cy="10789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4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Service add-ons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127248" y="3520440"/>
            <a:ext cx="2212848" cy="10789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5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Venue + admin dashboards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5614416" y="3520440"/>
            <a:ext cx="2212848" cy="10789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6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Fuel, EV charging, partner marketplace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101584" y="3520440"/>
            <a:ext cx="2212848" cy="10789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5000"/>
              </a:srgbClr>
            </a:solidFill>
          </a:ln>
        </p:spPr>
        <p:txBody>
          <a:bodyPr wrap="square" lIns="45720" tIns="45720" rIns="45720" bIns="45720"/>
          <a:lstStyle/>
          <a:p>
            <a:pPr algn="c">
              <a:defRPr sz="1180"/>
            </a:pPr>
            <a:r>
              <a:rPr lang="en-US" sz="1180" b="1">
                <a:solidFill>
                  <a:srgbClr val="07111F"/>
                </a:solidFill>
                <a:latin typeface="Aptos"/>
              </a:rPr>
              <a:t>Phase 7</a:t>
            </a:r>
          </a:p>
          <a:p>
            <a:pPr algn="c">
              <a:defRPr sz="850"/>
            </a:pPr>
            <a:r>
              <a:rPr lang="en-US" sz="850">
                <a:solidFill>
                  <a:srgbClr val="FFFFFF"/>
                </a:solidFill>
                <a:latin typeface="Aptos"/>
              </a:rPr>
              <a:t>Multi-location analytics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PLATFORM FOUNDATION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Built For Operational Scale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481328"/>
            <a:ext cx="7040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550"/>
            </a:pPr>
            <a:r>
              <a:rPr lang="en-US" sz="1550">
                <a:solidFill>
                  <a:srgbClr val="A9B4C2"/>
                </a:solidFill>
                <a:latin typeface="Aptos"/>
              </a:rPr>
              <a:t>The architecture supports mobile access, staff tools, venue dashboards, partner workflows, integrations, and auditable data from day one.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2331720"/>
            <a:ext cx="7909560" cy="338328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C9A227">
                <a:alpha val="25000"/>
              </a:srgbClr>
            </a:solidFill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Core services: identity, valet sessions, service marketplace, payments, notifications, reporting, and audit logs.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Relational database for transactional records; object storage for vehicle photos, proof, receipts, and incident attachments.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Event-driven updates keep ticket status, pickup queues, notifications, and dashboards current.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Venue-scoped permissions protect customer data, vehicle location, staff actions, and partner jobs.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RISK MITIGATION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Risks Are Operational, So The Product Is Too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621792" y="1700784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Staff adoption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Role-specific workflows, short curbside interactions, and launch training.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998464" y="1700784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Peak reliability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Pickup queue and status updates are prioritized before advanced features.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21792" y="3429000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Service quality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Proof requirements, partner SLAs, and structured completion records.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998464" y="3429000"/>
            <a:ext cx="5102352" cy="1417320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C9A227">
                <a:alpha val="38000"/>
              </a:srgbClr>
            </a:solidFill>
          </a:ln>
        </p:spPr>
        <p:txBody>
          <a:bodyPr wrap="square" lIns="91440" tIns="91440" rIns="91440" bIns="91440"/>
          <a:lstStyle/>
          <a:p>
            <a:pPr algn="l">
              <a:defRPr sz="1550"/>
            </a:pPr>
            <a:r>
              <a:rPr lang="en-US" sz="1550" b="1">
                <a:solidFill>
                  <a:srgbClr val="FFFFFF"/>
                </a:solidFill>
                <a:latin typeface="Aptos"/>
              </a:rPr>
              <a:t>Privacy + payments</a:t>
            </a:r>
          </a:p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Role-based location access and established payment providers.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3840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 b="1">
                <a:solidFill>
                  <a:srgbClr val="E4C76E"/>
                </a:solidFill>
                <a:latin typeface="Aptos"/>
              </a:rPr>
              <a:t>USE OF PROCEEDS / NEXT STEPS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71323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000"/>
            </a:pPr>
            <a:r>
              <a:rPr lang="en-US" sz="3000" b="1">
                <a:solidFill>
                  <a:srgbClr val="FFFFFF"/>
                </a:solidFill>
                <a:latin typeface="Aptos"/>
              </a:rPr>
              <a:t>Near-Term Investment Focus</a:t>
            </a:r>
          </a:p>
        </p:txBody>
      </p:sp>
      <p:sp>
        <p:nvSpPr>
          <p:cNvPr id="7" name="Block 7"/>
          <p:cNvSpPr/>
          <p:nvPr/>
        </p:nvSpPr>
        <p:spPr>
          <a:xfrm>
            <a:off x="10826496" y="438912"/>
            <a:ext cx="74980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822960" y="1664208"/>
            <a:ext cx="7909560" cy="3383280"/>
          </a:xfrm>
          <a:prstGeom prst="roundRect">
            <a:avLst/>
          </a:prstGeom>
          <a:solidFill>
            <a:srgbClr val="111D2F"/>
          </a:solidFill>
          <a:ln w="12700">
            <a:solidFill>
              <a:srgbClr val="C9A227">
                <a:alpha val="25000"/>
              </a:srgbClr>
            </a:solidFill>
          </a:ln>
        </p:spPr>
        <p:txBody>
          <a:bodyPr wrap="square" lIns="91440" tIns="91440" rIns="91440" bIns="91440"/>
          <a:lstStyle/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Confirm pilot venue profile, operating workflow, and success criteria.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Finalize MVP scope and produce customer ticket, valet app, and dashboard wireframes.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Build the pilot platform foundation: backend, roles, digital ticket, check-in, pickup queue, and reporting.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Launch with staff training, live monitoring, post-shift review, and investor-grade pilot metrics.</a:t>
            </a:r>
          </a:p>
          <a:p>
            <a:pPr marL="285750" indent="-171450">
              <a:buChar char="•"/>
              <a:defRPr sz="1350"/>
            </a:pPr>
            <a:r>
              <a:rPr lang="en-US" sz="1350">
                <a:solidFill>
                  <a:srgbClr val="FFFFFF"/>
                </a:solidFill>
                <a:latin typeface="Aptos"/>
              </a:rPr>
              <a:t>Use pilot data to validate payments, services, and multi-venue expansion sequencing.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66928" y="63550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850"/>
            </a:pPr>
            <a:r>
              <a:rPr lang="en-US" sz="850">
                <a:solidFill>
                  <a:srgbClr val="A9B4C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2"/>
          <p:cNvSpPr/>
          <p:nvPr/>
        </p:nvSpPr>
        <p:spPr>
          <a:xfrm>
            <a:off x="8869680" y="91440"/>
            <a:ext cx="3383280" cy="6766560"/>
          </a:xfrm>
          <a:prstGeom prst="rect">
            <a:avLst/>
          </a:prstGeom>
          <a:solidFill>
            <a:srgbClr val="111D2F">
              <a:alpha val="55000"/>
            </a:srgbClr>
          </a:solidFill>
          <a:ln>
            <a:noFill/>
          </a:ln>
        </p:spPr>
      </p:sp>
      <p:sp>
        <p:nvSpPr>
          <p:cNvPr id="3" name="Block 3"/>
          <p:cNvSpPr/>
          <p:nvPr/>
        </p:nvSpPr>
        <p:spPr>
          <a:xfrm>
            <a:off x="-182880" y="6272784"/>
            <a:ext cx="12527280" cy="585216"/>
          </a:xfrm>
          <a:prstGeom prst="rect">
            <a:avLst/>
          </a:prstGeom>
          <a:solidFill>
            <a:srgbClr val="0B1728"/>
          </a:solidFill>
          <a:ln>
            <a:noFill/>
          </a:ln>
        </p:spPr>
      </p:sp>
      <p:sp>
        <p:nvSpPr>
          <p:cNvPr id="4" name="Block 4"/>
          <p:cNvSpPr/>
          <p:nvPr/>
        </p:nvSpPr>
        <p:spPr>
          <a:xfrm>
            <a:off x="585216" y="640080"/>
            <a:ext cx="123444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5" name="Shape 5"/>
          <p:cNvSpPr txBox="1"/>
          <p:nvPr/>
        </p:nvSpPr>
        <p:spPr>
          <a:xfrm>
            <a:off x="566928" y="1234440"/>
            <a:ext cx="9966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3700"/>
            </a:pPr>
            <a:r>
              <a:rPr lang="en-US" sz="3700" b="1">
                <a:solidFill>
                  <a:srgbClr val="FFFFFF"/>
                </a:solidFill>
                <a:latin typeface="Aptos"/>
              </a:rPr>
              <a:t>Crown Valet Modernizes A High-Value Hospitality Moment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621792" y="3154680"/>
            <a:ext cx="81381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2200"/>
            </a:pPr>
            <a:r>
              <a:rPr lang="en-US" sz="2200">
                <a:solidFill>
                  <a:srgbClr val="A9B4C2"/>
                </a:solidFill>
                <a:latin typeface="Aptos"/>
              </a:rPr>
              <a:t>Better guest experience. Cleaner operations. New service revenue. A scalable foundation for connected vehicle services.</a:t>
            </a:r>
          </a:p>
        </p:txBody>
      </p:sp>
      <p:sp>
        <p:nvSpPr>
          <p:cNvPr id="7" name="Block 7"/>
          <p:cNvSpPr/>
          <p:nvPr/>
        </p:nvSpPr>
        <p:spPr>
          <a:xfrm>
            <a:off x="621792" y="4709160"/>
            <a:ext cx="3749039" cy="118872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66928" y="6144768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defRPr sz="1050"/>
            </a:pPr>
            <a:r>
              <a:rPr lang="en-US" sz="1050">
                <a:solidFill>
                  <a:srgbClr val="A9B4C2"/>
                </a:solidFill>
                <a:latin typeface="Aptos"/>
              </a:rPr>
              <a:t>Crown Valet | Connected valet parking and vehicle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wn Valet">
  <a:themeElements>
    <a:clrScheme name="Crown Valet">
      <a:dk1>
        <a:srgbClr val="07111F"/>
      </a:dk1>
      <a:lt1>
        <a:srgbClr val="FFFFFF"/>
      </a:lt1>
      <a:dk2>
        <a:srgbClr val="0B1728"/>
      </a:dk2>
      <a:lt2>
        <a:srgbClr val="A9B4C2"/>
      </a:lt2>
      <a:accent1>
        <a:srgbClr val="C9A227"/>
      </a:accent1>
      <a:accent2>
        <a:srgbClr val="4DA3FF"/>
      </a:accent2>
      <a:accent3>
        <a:srgbClr val="33D6C4"/>
      </a:accent3>
      <a:accent4>
        <a:srgbClr val="B18CFF"/>
      </a:accent4>
      <a:accent5>
        <a:srgbClr val="2ECC71"/>
      </a:accent5>
      <a:accent6>
        <a:srgbClr val="FF6B6B"/>
      </a:accent6>
      <a:hlink>
        <a:srgbClr val="4DA3FF"/>
      </a:hlink>
      <a:folHlink>
        <a:srgbClr val="B18CFF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row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</Application>
  <PresentationFormat>Widescreen</PresentationFormat>
  <Slides>17</Slides>
  <Notes>0</Notes>
  <HiddenSlides>0</HiddenSlides>
  <MMClips>0</MMClips>
  <ScaleCrop>false</ScaleCrop>
  <Company>Crown Valet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Crown Valet Investor Deck</dc:title>
  <dc:subject>Connected valet parking and vehicle services</dc:subject>
  <dc:creator>Cursor</dc:creator>
  <cp:keywords>valet, hospitality, parking, vehicle services, investor deck</cp:keywords>
  <dc:description>Investor-facing PowerPoint deck generated from Crown Valet documentation.</dc:description>
  <cp:lastModifiedBy>Cursor</cp:lastModifiedBy>
  <dcterms:created xsi:type="dcterms:W3CDTF">2026-06-05T01:42:00Z</dcterms:created>
  <dcterms:modified xsi:type="dcterms:W3CDTF">2026-06-05T01:42:00Z</dcterms:modified>
</cp:coreProperties>
</file>